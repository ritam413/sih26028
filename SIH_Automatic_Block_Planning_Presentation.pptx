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822960"/>
            <a:ext cx="10362895" cy="5212080"/>
          </a:xfrm>
          <a:prstGeom prst="roundRect">
            <a:avLst/>
          </a:prstGeom>
          <a:solidFill>
            <a:srgbClr val="FFFFFF"/>
          </a:solidFill>
          <a:ln w="19050">
            <a:solidFill>
              <a:srgbClr val="D0DFEE"/>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731520"/>
          <a:lstStyle/>
          <a:p>
            <a:pPr algn="ctr">
              <a:defRPr sz="1100" b="1">
                <a:solidFill>
                  <a:srgbClr val="2B7FFF"/>
                </a:solidFill>
              </a:defRPr>
            </a:pPr>
            <a:r>
              <a:t>SMART INDIA HACKATHON | HARDWARE / SOFTWARE EDITION</a:t>
            </a:r>
          </a:p>
          <a:p>
            <a:pPr>
              <a:spcBef>
                <a:spcPts val="1400"/>
              </a:spcBef>
              <a:spcAft>
                <a:spcPts val="800"/>
              </a:spcAft>
              <a:defRPr sz="2700" b="1">
                <a:solidFill>
                  <a:srgbClr val="0F172A"/>
                </a:solidFill>
              </a:defRPr>
            </a:pPr>
            <a:r>
              <a:t>Automatic Block Planning &amp; Corridor Optimization System</a:t>
            </a:r>
          </a:p>
          <a:p>
            <a:pPr>
              <a:spcAft>
                <a:spcPts val="2000"/>
              </a:spcAft>
              <a:defRPr sz="1400" b="1">
                <a:solidFill>
                  <a:srgbClr val="1E3A8A"/>
                </a:solidFill>
              </a:defRPr>
            </a:pPr>
            <a:r>
              <a:t>Integrated Multi-Department Maintenance Scheduling across TMS, SMMS, TDMS, and COA Train Traffic Data</a:t>
            </a:r>
          </a:p>
          <a:p>
            <a:pPr>
              <a:defRPr sz="1150">
                <a:solidFill>
                  <a:srgbClr val="475569"/>
                </a:solidFill>
              </a:defRPr>
            </a:pPr>
            <a:r>
              <a:t>Organization: Ministry of Railways  |  Target: Civil Engineering, TRD (Traction), S&amp;T, and Operations (COA)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2B7FFF"/>
                </a:solidFill>
              </a:defRPr>
            </a:pPr>
            <a:r>
              <a:t>SMART INDIA HACKATHON | MINISTRY OF RAILWAYS</a:t>
            </a:r>
          </a:p>
          <a:p>
            <a:pPr>
              <a:defRPr sz="2200" b="1">
                <a:solidFill>
                  <a:srgbClr val="0F172A"/>
                </a:solidFill>
              </a:defRPr>
            </a:pPr>
            <a:r>
              <a:t>Problem Understanding: Current Decentralized Block Planning</a:t>
            </a:r>
          </a:p>
        </p:txBody>
      </p:sp>
      <p:sp>
        <p:nvSpPr>
          <p:cNvPr id="4" name="Rounded Rectangle 3"/>
          <p:cNvSpPr/>
          <p:nvPr/>
        </p:nvSpPr>
        <p:spPr>
          <a:xfrm>
            <a:off x="731520" y="1371600"/>
            <a:ext cx="3328416" cy="3291840"/>
          </a:xfrm>
          <a:prstGeom prst="roundRect">
            <a:avLst/>
          </a:prstGeom>
          <a:solidFill>
            <a:srgbClr val="FFFFFF"/>
          </a:solidFill>
          <a:ln w="19050">
            <a:solidFill>
              <a:srgbClr val="D0DFE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900" b="1">
                <a:solidFill>
                  <a:srgbClr val="2B7FFF"/>
                </a:solidFill>
              </a:defRPr>
            </a:pPr>
            <a:r>
              <a:t>CIVIL ENGINEERING</a:t>
            </a:r>
          </a:p>
          <a:p>
            <a:pPr>
              <a:spcBef>
                <a:spcPts val="400"/>
              </a:spcBef>
              <a:spcAft>
                <a:spcPts val="1000"/>
              </a:spcAft>
              <a:defRPr sz="1600" b="1">
                <a:solidFill>
                  <a:srgbClr val="0F172A"/>
                </a:solidFill>
              </a:defRPr>
            </a:pPr>
            <a:r>
              <a:t>TMS (Track)</a:t>
            </a:r>
          </a:p>
          <a:p>
            <a:pPr>
              <a:spcAft>
                <a:spcPts val="800"/>
              </a:spcAft>
              <a:defRPr sz="1000">
                <a:solidFill>
                  <a:srgbClr val="475569"/>
                </a:solidFill>
              </a:defRPr>
            </a:pPr>
            <a:r>
              <a:t>• Maintains rail defects, fractures, and overdue track tamping data in isolation.</a:t>
            </a:r>
          </a:p>
          <a:p>
            <a:pPr>
              <a:spcAft>
                <a:spcPts val="800"/>
              </a:spcAft>
              <a:defRPr sz="1000">
                <a:solidFill>
                  <a:srgbClr val="475569"/>
                </a:solidFill>
              </a:defRPr>
            </a:pPr>
            <a:r>
              <a:t>• Requests track blocks independently via BDMS without visibility into other departments.</a:t>
            </a:r>
          </a:p>
        </p:txBody>
      </p:sp>
      <p:sp>
        <p:nvSpPr>
          <p:cNvPr id="5" name="Rounded Rectangle 4"/>
          <p:cNvSpPr/>
          <p:nvPr/>
        </p:nvSpPr>
        <p:spPr>
          <a:xfrm>
            <a:off x="4425696" y="1371600"/>
            <a:ext cx="3328416" cy="3291840"/>
          </a:xfrm>
          <a:prstGeom prst="roundRect">
            <a:avLst/>
          </a:prstGeom>
          <a:solidFill>
            <a:srgbClr val="FFFFFF"/>
          </a:solidFill>
          <a:ln w="19050">
            <a:solidFill>
              <a:srgbClr val="D0DFE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900" b="1">
                <a:solidFill>
                  <a:srgbClr val="0F172A"/>
                </a:solidFill>
              </a:defRPr>
            </a:pPr>
            <a:r>
              <a:t>ELECTRICAL / TRD</a:t>
            </a:r>
          </a:p>
          <a:p>
            <a:pPr>
              <a:spcBef>
                <a:spcPts val="400"/>
              </a:spcBef>
              <a:spcAft>
                <a:spcPts val="1000"/>
              </a:spcAft>
              <a:defRPr sz="1600" b="1">
                <a:solidFill>
                  <a:srgbClr val="0F172A"/>
                </a:solidFill>
              </a:defRPr>
            </a:pPr>
            <a:r>
              <a:t>TDMS (Traction)</a:t>
            </a:r>
          </a:p>
          <a:p>
            <a:pPr>
              <a:spcAft>
                <a:spcPts val="800"/>
              </a:spcAft>
              <a:defRPr sz="1000">
                <a:solidFill>
                  <a:srgbClr val="475569"/>
                </a:solidFill>
              </a:defRPr>
            </a:pPr>
            <a:r>
              <a:t>• Manages OHE catenary wear, insulator washing, and power disconnections.</a:t>
            </a:r>
          </a:p>
          <a:p>
            <a:pPr>
              <a:spcAft>
                <a:spcPts val="800"/>
              </a:spcAft>
              <a:defRPr sz="1000">
                <a:solidFill>
                  <a:srgbClr val="475569"/>
                </a:solidFill>
              </a:defRPr>
            </a:pPr>
            <a:r>
              <a:t>• Requires power cut blocks that often clash or occur days apart from track work.</a:t>
            </a:r>
          </a:p>
        </p:txBody>
      </p:sp>
      <p:sp>
        <p:nvSpPr>
          <p:cNvPr id="6" name="Rounded Rectangle 5"/>
          <p:cNvSpPr/>
          <p:nvPr/>
        </p:nvSpPr>
        <p:spPr>
          <a:xfrm>
            <a:off x="8119872" y="1371600"/>
            <a:ext cx="3328416" cy="3291840"/>
          </a:xfrm>
          <a:prstGeom prst="roundRect">
            <a:avLst/>
          </a:prstGeom>
          <a:solidFill>
            <a:srgbClr val="FFFFFF"/>
          </a:solidFill>
          <a:ln w="19050">
            <a:solidFill>
              <a:srgbClr val="D0DFE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900" b="1">
                <a:solidFill>
                  <a:srgbClr val="1E3A8A"/>
                </a:solidFill>
              </a:defRPr>
            </a:pPr>
            <a:r>
              <a:t>SIGNAL &amp; TELECOM</a:t>
            </a:r>
          </a:p>
          <a:p>
            <a:pPr>
              <a:spcBef>
                <a:spcPts val="400"/>
              </a:spcBef>
              <a:spcAft>
                <a:spcPts val="1000"/>
              </a:spcAft>
              <a:defRPr sz="1600" b="1">
                <a:solidFill>
                  <a:srgbClr val="0F172A"/>
                </a:solidFill>
              </a:defRPr>
            </a:pPr>
            <a:r>
              <a:t>SMMS (Signaling)</a:t>
            </a:r>
          </a:p>
          <a:p>
            <a:pPr>
              <a:spcAft>
                <a:spcPts val="800"/>
              </a:spcAft>
              <a:defRPr sz="1000">
                <a:solidFill>
                  <a:srgbClr val="475569"/>
                </a:solidFill>
              </a:defRPr>
            </a:pPr>
            <a:r>
              <a:t>• Tracks point machine overhauls, signal aspects, and track circuit calibrations.</a:t>
            </a:r>
          </a:p>
          <a:p>
            <a:pPr>
              <a:spcAft>
                <a:spcPts val="800"/>
              </a:spcAft>
              <a:defRPr sz="1000">
                <a:solidFill>
                  <a:srgbClr val="475569"/>
                </a:solidFill>
              </a:defRPr>
            </a:pPr>
            <a:r>
              <a:t>• Manual block coordination causes repeated train speed restrictions.</a:t>
            </a:r>
          </a:p>
        </p:txBody>
      </p:sp>
      <p:sp>
        <p:nvSpPr>
          <p:cNvPr id="7" name="Rounded Rectangle 6"/>
          <p:cNvSpPr/>
          <p:nvPr/>
        </p:nvSpPr>
        <p:spPr>
          <a:xfrm>
            <a:off x="731520" y="4892040"/>
            <a:ext cx="10728655" cy="1463040"/>
          </a:xfrm>
          <a:prstGeom prst="roundRect">
            <a:avLst/>
          </a:prstGeom>
          <a:solidFill>
            <a:srgbClr val="E6F0FA"/>
          </a:solidFill>
          <a:ln w="12700">
            <a:solidFill>
              <a:srgbClr val="2B7FFF"/>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000" b="1">
                <a:solidFill>
                  <a:srgbClr val="2B7FFF"/>
                </a:solidFill>
              </a:defRPr>
            </a:pPr>
            <a:r>
              <a:t>THE BOTTLENECK IN CURRENT BDMS (BLOCK DEMAND MANAGEMENT SYSTEM)</a:t>
            </a:r>
          </a:p>
          <a:p>
            <a:pPr>
              <a:spcBef>
                <a:spcPts val="400"/>
              </a:spcBef>
              <a:defRPr sz="1100">
                <a:solidFill>
                  <a:srgbClr val="0F172A"/>
                </a:solidFill>
              </a:defRPr>
            </a:pPr>
            <a:r>
              <a:t>Without automated integration with the Control Office Application (COA) train timetable and goods forecast, maintenance blocks are approved manually. This results in severe corridor downtime, frequent speed restrictions, and disrupted freight operations.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2B7FFF"/>
                </a:solidFill>
              </a:defRPr>
            </a:pPr>
            <a:r>
              <a:t>SMART INDIA HACKATHON | MINISTRY OF RAILWAYS</a:t>
            </a:r>
          </a:p>
          <a:p>
            <a:pPr>
              <a:defRPr sz="2200" b="1">
                <a:solidFill>
                  <a:srgbClr val="0F172A"/>
                </a:solidFill>
              </a:defRPr>
            </a:pPr>
            <a:r>
              <a:t>Proposed Solution: Unified Block Planning Architecture</a:t>
            </a:r>
          </a:p>
        </p:txBody>
      </p:sp>
      <p:sp>
        <p:nvSpPr>
          <p:cNvPr id="4" name="Rounded Rectangle 3"/>
          <p:cNvSpPr/>
          <p:nvPr/>
        </p:nvSpPr>
        <p:spPr>
          <a:xfrm>
            <a:off x="731520" y="1371600"/>
            <a:ext cx="3328416" cy="3474720"/>
          </a:xfrm>
          <a:prstGeom prst="roundRect">
            <a:avLst/>
          </a:prstGeom>
          <a:solidFill>
            <a:srgbClr val="FFFFFF"/>
          </a:solidFill>
          <a:ln w="19050">
            <a:solidFill>
              <a:srgbClr val="D0DFE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900" b="1">
                <a:solidFill>
                  <a:srgbClr val="2B7FFF"/>
                </a:solidFill>
              </a:defRPr>
            </a:pPr>
            <a:r>
              <a:t>STAGE 01  |  BREAKS DEPARTMENTAL SILOS</a:t>
            </a:r>
          </a:p>
          <a:p>
            <a:pPr>
              <a:spcBef>
                <a:spcPts val="400"/>
              </a:spcBef>
              <a:spcAft>
                <a:spcPts val="1000"/>
              </a:spcAft>
              <a:defRPr sz="1600" b="1">
                <a:solidFill>
                  <a:srgbClr val="0F172A"/>
                </a:solidFill>
              </a:defRPr>
            </a:pPr>
            <a:r>
              <a:t>Unified Ingestion</a:t>
            </a:r>
          </a:p>
          <a:p>
            <a:pPr>
              <a:spcAft>
                <a:spcPts val="600"/>
              </a:spcAft>
              <a:defRPr sz="1050">
                <a:solidFill>
                  <a:srgbClr val="475569"/>
                </a:solidFill>
              </a:defRPr>
            </a:pPr>
            <a:r>
              <a:t>• TMS (Track): Geometry defects, rail fractures, and overdue tamping.</a:t>
            </a:r>
          </a:p>
          <a:p>
            <a:pPr>
              <a:spcAft>
                <a:spcPts val="600"/>
              </a:spcAft>
              <a:defRPr sz="1050">
                <a:solidFill>
                  <a:srgbClr val="475569"/>
                </a:solidFill>
              </a:defRPr>
            </a:pPr>
            <a:r>
              <a:t>• SMMS (Signals): Point machines, relays, and interlocking overhauls.</a:t>
            </a:r>
          </a:p>
          <a:p>
            <a:pPr>
              <a:spcAft>
                <a:spcPts val="600"/>
              </a:spcAft>
              <a:defRPr sz="1050">
                <a:solidFill>
                  <a:srgbClr val="475569"/>
                </a:solidFill>
              </a:defRPr>
            </a:pPr>
            <a:r>
              <a:t>• TDMS (Traction/OHE): Power disconnections &amp; catenary maintenance.</a:t>
            </a:r>
          </a:p>
          <a:p>
            <a:pPr>
              <a:spcAft>
                <a:spcPts val="600"/>
              </a:spcAft>
              <a:defRPr sz="1050">
                <a:solidFill>
                  <a:srgbClr val="475569"/>
                </a:solidFill>
              </a:defRPr>
            </a:pPr>
            <a:r>
              <a:t>• COA (Traffic): Passenger timetables &amp; goods freight density forecasts.</a:t>
            </a:r>
          </a:p>
        </p:txBody>
      </p:sp>
      <p:sp>
        <p:nvSpPr>
          <p:cNvPr id="5" name="Rounded Rectangle 4"/>
          <p:cNvSpPr/>
          <p:nvPr/>
        </p:nvSpPr>
        <p:spPr>
          <a:xfrm>
            <a:off x="4425696" y="1371600"/>
            <a:ext cx="3328416" cy="3474720"/>
          </a:xfrm>
          <a:prstGeom prst="roundRect">
            <a:avLst/>
          </a:prstGeom>
          <a:solidFill>
            <a:srgbClr val="FFFFFF"/>
          </a:solidFill>
          <a:ln w="19050">
            <a:solidFill>
              <a:srgbClr val="D0DFE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900" b="1">
                <a:solidFill>
                  <a:srgbClr val="1E3A8A"/>
                </a:solidFill>
              </a:defRPr>
            </a:pPr>
            <a:r>
              <a:t>STAGE 02  |  CONSTRAINT-AWARE SOLVER</a:t>
            </a:r>
          </a:p>
          <a:p>
            <a:pPr>
              <a:spcBef>
                <a:spcPts val="400"/>
              </a:spcBef>
              <a:spcAft>
                <a:spcPts val="1000"/>
              </a:spcAft>
              <a:defRPr sz="1600" b="1">
                <a:solidFill>
                  <a:srgbClr val="0F172A"/>
                </a:solidFill>
              </a:defRPr>
            </a:pPr>
            <a:r>
              <a:t>Optimization Engine</a:t>
            </a:r>
          </a:p>
          <a:p>
            <a:pPr>
              <a:spcAft>
                <a:spcPts val="600"/>
              </a:spcAft>
              <a:defRPr sz="1050">
                <a:solidFill>
                  <a:srgbClr val="475569"/>
                </a:solidFill>
              </a:defRPr>
            </a:pPr>
            <a:r>
              <a:t>• Dynamic Traffic Gaps: Detects natural off-peak freight gaps in COA.</a:t>
            </a:r>
          </a:p>
          <a:p>
            <a:pPr>
              <a:spcAft>
                <a:spcPts val="600"/>
              </a:spcAft>
              <a:defRPr sz="1050">
                <a:solidFill>
                  <a:srgbClr val="475569"/>
                </a:solidFill>
              </a:defRPr>
            </a:pPr>
            <a:r>
              <a:t>• Automated Shadow Blocking: Merges compatible multi-department tasks.</a:t>
            </a:r>
          </a:p>
          <a:p>
            <a:pPr>
              <a:spcAft>
                <a:spcPts val="600"/>
              </a:spcAft>
              <a:defRPr sz="1050">
                <a:solidFill>
                  <a:srgbClr val="475569"/>
                </a:solidFill>
              </a:defRPr>
            </a:pPr>
            <a:r>
              <a:t>• Urgency &amp; Risk Scoring: Prioritizes P1 safety over routine tasks.</a:t>
            </a:r>
          </a:p>
          <a:p>
            <a:pPr>
              <a:spcAft>
                <a:spcPts val="600"/>
              </a:spcAft>
              <a:defRPr sz="1050">
                <a:solidFill>
                  <a:srgbClr val="475569"/>
                </a:solidFill>
              </a:defRPr>
            </a:pPr>
            <a:r>
              <a:t>• Multi-Horizon Output: Auto-generates daily, weekly, &amp; monthly plans.</a:t>
            </a:r>
          </a:p>
        </p:txBody>
      </p:sp>
      <p:sp>
        <p:nvSpPr>
          <p:cNvPr id="6" name="Rounded Rectangle 5"/>
          <p:cNvSpPr/>
          <p:nvPr/>
        </p:nvSpPr>
        <p:spPr>
          <a:xfrm>
            <a:off x="8119872" y="1371600"/>
            <a:ext cx="3328416" cy="3474720"/>
          </a:xfrm>
          <a:prstGeom prst="roundRect">
            <a:avLst/>
          </a:prstGeom>
          <a:solidFill>
            <a:srgbClr val="FFFFFF"/>
          </a:solidFill>
          <a:ln w="19050">
            <a:solidFill>
              <a:srgbClr val="D0DFE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900" b="1">
                <a:solidFill>
                  <a:srgbClr val="10B981"/>
                </a:solidFill>
              </a:defRPr>
            </a:pPr>
            <a:r>
              <a:t>STAGE 03  |  HUMAN-IN-THE-LOOP EXECUTION</a:t>
            </a:r>
          </a:p>
          <a:p>
            <a:pPr>
              <a:spcBef>
                <a:spcPts val="400"/>
              </a:spcBef>
              <a:spcAft>
                <a:spcPts val="1000"/>
              </a:spcAft>
              <a:defRPr sz="1600" b="1">
                <a:solidFill>
                  <a:srgbClr val="0F172A"/>
                </a:solidFill>
              </a:defRPr>
            </a:pPr>
            <a:r>
              <a:t>Controller Cockpit</a:t>
            </a:r>
          </a:p>
          <a:p>
            <a:pPr>
              <a:spcAft>
                <a:spcPts val="600"/>
              </a:spcAft>
              <a:defRPr sz="1050">
                <a:solidFill>
                  <a:srgbClr val="475569"/>
                </a:solidFill>
              </a:defRPr>
            </a:pPr>
            <a:r>
              <a:t>• Corridor String Chart: Live visual map of train paths vs block windows.</a:t>
            </a:r>
          </a:p>
          <a:p>
            <a:pPr>
              <a:spcAft>
                <a:spcPts val="600"/>
              </a:spcAft>
              <a:defRPr sz="1050">
                <a:solidFill>
                  <a:srgbClr val="475569"/>
                </a:solidFill>
              </a:defRPr>
            </a:pPr>
            <a:r>
              <a:t>• 1-Click Controller Approval: Fast review, modify, or override gates.</a:t>
            </a:r>
          </a:p>
          <a:p>
            <a:pPr>
              <a:spcAft>
                <a:spcPts val="600"/>
              </a:spcAft>
              <a:defRPr sz="1050">
                <a:solidFill>
                  <a:srgbClr val="475569"/>
                </a:solidFill>
              </a:defRPr>
            </a:pPr>
            <a:r>
              <a:t>• Explainable AI Dossier: 4-step audit trail showing why slots were chosen.</a:t>
            </a:r>
          </a:p>
          <a:p>
            <a:pPr>
              <a:spcAft>
                <a:spcPts val="600"/>
              </a:spcAft>
              <a:defRPr sz="1050">
                <a:solidFill>
                  <a:srgbClr val="475569"/>
                </a:solidFill>
              </a:defRPr>
            </a:pPr>
            <a:r>
              <a:t>• Real-Time Gang Tracking: Live field crew safety &amp; clearance timers.</a:t>
            </a:r>
          </a:p>
        </p:txBody>
      </p:sp>
      <p:sp>
        <p:nvSpPr>
          <p:cNvPr id="7" name="Rounded Rectangle 6"/>
          <p:cNvSpPr/>
          <p:nvPr/>
        </p:nvSpPr>
        <p:spPr>
          <a:xfrm>
            <a:off x="731520" y="5029200"/>
            <a:ext cx="10728655" cy="1280160"/>
          </a:xfrm>
          <a:prstGeom prst="roundRect">
            <a:avLst/>
          </a:prstGeom>
          <a:solidFill>
            <a:srgbClr val="E6F0FA"/>
          </a:solidFill>
          <a:ln w="12700">
            <a:solidFill>
              <a:srgbClr val="2B7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074920"/>
            <a:ext cx="2514600" cy="1188720"/>
          </a:xfrm>
          <a:prstGeom prst="rect">
            <a:avLst/>
          </a:prstGeom>
          <a:noFill/>
        </p:spPr>
        <p:txBody>
          <a:bodyPr wrap="square" lIns="0" tIns="0" rIns="0" bIns="0">
            <a:spAutoFit/>
          </a:bodyPr>
          <a:lstStyle/>
          <a:p>
            <a:pPr>
              <a:defRPr sz="2000" b="1">
                <a:solidFill>
                  <a:srgbClr val="2B7FFF"/>
                </a:solidFill>
              </a:defRPr>
            </a:pPr>
            <a:r>
              <a:t>35% - 40%</a:t>
            </a:r>
          </a:p>
          <a:p>
            <a:pPr>
              <a:defRPr sz="1000" b="1">
                <a:solidFill>
                  <a:srgbClr val="0F172A"/>
                </a:solidFill>
              </a:defRPr>
            </a:pPr>
            <a:r>
              <a:t>Corridor Downtime Reduction</a:t>
            </a:r>
          </a:p>
          <a:p>
            <a:pPr>
              <a:defRPr sz="850">
                <a:solidFill>
                  <a:srgbClr val="475569"/>
                </a:solidFill>
              </a:defRPr>
            </a:pPr>
            <a:r>
              <a:t>Via Multi-Dept Joint Shadow Blocking</a:t>
            </a:r>
          </a:p>
        </p:txBody>
      </p:sp>
      <p:sp>
        <p:nvSpPr>
          <p:cNvPr id="9" name="TextBox 8"/>
          <p:cNvSpPr txBox="1"/>
          <p:nvPr/>
        </p:nvSpPr>
        <p:spPr>
          <a:xfrm>
            <a:off x="3474720" y="5074920"/>
            <a:ext cx="2514600" cy="1188720"/>
          </a:xfrm>
          <a:prstGeom prst="rect">
            <a:avLst/>
          </a:prstGeom>
          <a:noFill/>
        </p:spPr>
        <p:txBody>
          <a:bodyPr wrap="square" lIns="0" tIns="0" rIns="0" bIns="0">
            <a:spAutoFit/>
          </a:bodyPr>
          <a:lstStyle/>
          <a:p>
            <a:pPr>
              <a:defRPr sz="2000" b="1">
                <a:solidFill>
                  <a:srgbClr val="2B7FFF"/>
                </a:solidFill>
              </a:defRPr>
            </a:pPr>
            <a:r>
              <a:t>0</a:t>
            </a:r>
          </a:p>
          <a:p>
            <a:pPr>
              <a:defRPr sz="1000" b="1">
                <a:solidFill>
                  <a:srgbClr val="0F172A"/>
                </a:solidFill>
              </a:defRPr>
            </a:pPr>
            <a:r>
              <a:t>Passenger Path Disruptions</a:t>
            </a:r>
          </a:p>
          <a:p>
            <a:pPr>
              <a:defRPr sz="850">
                <a:solidFill>
                  <a:srgbClr val="475569"/>
                </a:solidFill>
              </a:defRPr>
            </a:pPr>
            <a:r>
              <a:t>Optimized during off-peak traffic gaps</a:t>
            </a:r>
          </a:p>
        </p:txBody>
      </p:sp>
      <p:sp>
        <p:nvSpPr>
          <p:cNvPr id="10" name="TextBox 9"/>
          <p:cNvSpPr txBox="1"/>
          <p:nvPr/>
        </p:nvSpPr>
        <p:spPr>
          <a:xfrm>
            <a:off x="6126480" y="5074920"/>
            <a:ext cx="2514600" cy="1188720"/>
          </a:xfrm>
          <a:prstGeom prst="rect">
            <a:avLst/>
          </a:prstGeom>
          <a:noFill/>
        </p:spPr>
        <p:txBody>
          <a:bodyPr wrap="square" lIns="0" tIns="0" rIns="0" bIns="0">
            <a:spAutoFit/>
          </a:bodyPr>
          <a:lstStyle/>
          <a:p>
            <a:pPr>
              <a:defRPr sz="2000" b="1">
                <a:solidFill>
                  <a:srgbClr val="2B7FFF"/>
                </a:solidFill>
              </a:defRPr>
            </a:pPr>
            <a:r>
              <a:t>&lt; 30s</a:t>
            </a:r>
          </a:p>
          <a:p>
            <a:pPr>
              <a:defRPr sz="1000" b="1">
                <a:solidFill>
                  <a:srgbClr val="0F172A"/>
                </a:solidFill>
              </a:defRPr>
            </a:pPr>
            <a:r>
              <a:t>Automated Schedule Solver</a:t>
            </a:r>
          </a:p>
          <a:p>
            <a:pPr>
              <a:defRPr sz="850">
                <a:solidFill>
                  <a:srgbClr val="475569"/>
                </a:solidFill>
              </a:defRPr>
            </a:pPr>
            <a:r>
              <a:t>Replaces multi-day manual coordination</a:t>
            </a:r>
          </a:p>
        </p:txBody>
      </p:sp>
      <p:sp>
        <p:nvSpPr>
          <p:cNvPr id="11" name="TextBox 10"/>
          <p:cNvSpPr txBox="1"/>
          <p:nvPr/>
        </p:nvSpPr>
        <p:spPr>
          <a:xfrm>
            <a:off x="8778240" y="5074920"/>
            <a:ext cx="2514600" cy="1188720"/>
          </a:xfrm>
          <a:prstGeom prst="rect">
            <a:avLst/>
          </a:prstGeom>
          <a:noFill/>
        </p:spPr>
        <p:txBody>
          <a:bodyPr wrap="square" lIns="0" tIns="0" rIns="0" bIns="0">
            <a:spAutoFit/>
          </a:bodyPr>
          <a:lstStyle/>
          <a:p>
            <a:pPr>
              <a:defRPr sz="2000" b="1">
                <a:solidFill>
                  <a:srgbClr val="2B7FFF"/>
                </a:solidFill>
              </a:defRPr>
            </a:pPr>
            <a:r>
              <a:t>100%</a:t>
            </a:r>
          </a:p>
          <a:p>
            <a:pPr>
              <a:defRPr sz="1000" b="1">
                <a:solidFill>
                  <a:srgbClr val="0F172A"/>
                </a:solidFill>
              </a:defRPr>
            </a:pPr>
            <a:r>
              <a:t>Explainable Audit Trail</a:t>
            </a:r>
          </a:p>
          <a:p>
            <a:pPr>
              <a:defRPr sz="850">
                <a:solidFill>
                  <a:srgbClr val="475569"/>
                </a:solidFill>
              </a:defRPr>
            </a:pPr>
            <a:r>
              <a:t>Tamper-evident RDSO compliance dossier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2B7FFF"/>
                </a:solidFill>
              </a:defRPr>
            </a:pPr>
            <a:r>
              <a:t>SMART INDIA HACKATHON | MINISTRY OF RAILWAYS</a:t>
            </a:r>
          </a:p>
          <a:p>
            <a:pPr>
              <a:defRPr sz="2200" b="1">
                <a:solidFill>
                  <a:srgbClr val="0F172A"/>
                </a:solidFill>
              </a:defRPr>
            </a:pPr>
            <a:r>
              <a:t>Core Technical Innovation: Multi-Department Shadow Blocking</a:t>
            </a:r>
          </a:p>
        </p:txBody>
      </p:sp>
      <p:sp>
        <p:nvSpPr>
          <p:cNvPr id="4" name="Rounded Rectangle 3"/>
          <p:cNvSpPr/>
          <p:nvPr/>
        </p:nvSpPr>
        <p:spPr>
          <a:xfrm>
            <a:off x="731520" y="1371600"/>
            <a:ext cx="5120640" cy="4937760"/>
          </a:xfrm>
          <a:prstGeom prst="roundRect">
            <a:avLst/>
          </a:prstGeom>
          <a:solidFill>
            <a:srgbClr val="FFFFFF"/>
          </a:solidFill>
          <a:ln w="19050">
            <a:solidFill>
              <a:srgbClr val="D0DFEE"/>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sz="1100" b="1">
                <a:solidFill>
                  <a:srgbClr val="EF4444"/>
                </a:solidFill>
              </a:defRPr>
            </a:pPr>
            <a:r>
              <a:t>CURRENT REALITY: FRAGMENTED &amp; MANUAL</a:t>
            </a:r>
          </a:p>
          <a:p>
            <a:pPr>
              <a:spcBef>
                <a:spcPts val="400"/>
              </a:spcBef>
              <a:spcAft>
                <a:spcPts val="1200"/>
              </a:spcAft>
              <a:defRPr sz="1600" b="1">
                <a:solidFill>
                  <a:srgbClr val="0F172A"/>
                </a:solidFill>
              </a:defRPr>
            </a:pPr>
            <a:r>
              <a:t>3 to 4 Separate Track Closures Per Section</a:t>
            </a:r>
          </a:p>
          <a:p>
            <a:pPr>
              <a:spcAft>
                <a:spcPts val="800"/>
              </a:spcAft>
              <a:defRPr sz="1100">
                <a:solidFill>
                  <a:srgbClr val="475569"/>
                </a:solidFill>
              </a:defRPr>
            </a:pPr>
            <a:r>
              <a:t>• Civil Engineering requests 90 min for track tamping via BDMS.</a:t>
            </a:r>
          </a:p>
          <a:p>
            <a:pPr>
              <a:spcAft>
                <a:spcPts val="800"/>
              </a:spcAft>
              <a:defRPr sz="1100">
                <a:solidFill>
                  <a:srgbClr val="475569"/>
                </a:solidFill>
              </a:defRPr>
            </a:pPr>
            <a:r>
              <a:t>• 2 days later, TRD requests 120 min for OHE catenary power cut on the same stretch.</a:t>
            </a:r>
          </a:p>
          <a:p>
            <a:pPr>
              <a:spcAft>
                <a:spcPts val="800"/>
              </a:spcAft>
              <a:defRPr sz="1100">
                <a:solidFill>
                  <a:srgbClr val="475569"/>
                </a:solidFill>
              </a:defRPr>
            </a:pPr>
            <a:r>
              <a:t>• Signal &amp; Telecom requests 60 min for point machine testing next week.</a:t>
            </a:r>
          </a:p>
          <a:p>
            <a:pPr>
              <a:spcAft>
                <a:spcPts val="800"/>
              </a:spcAft>
              <a:defRPr sz="1100">
                <a:solidFill>
                  <a:srgbClr val="475569"/>
                </a:solidFill>
              </a:defRPr>
            </a:pPr>
            <a:r>
              <a:t>• Result: High cumulative line downtime, severe freight train delays, and poor asset utilization.</a:t>
            </a:r>
          </a:p>
        </p:txBody>
      </p:sp>
      <p:sp>
        <p:nvSpPr>
          <p:cNvPr id="5" name="Rounded Rectangle 4"/>
          <p:cNvSpPr/>
          <p:nvPr/>
        </p:nvSpPr>
        <p:spPr>
          <a:xfrm>
            <a:off x="6339535" y="1371600"/>
            <a:ext cx="5120640" cy="4937760"/>
          </a:xfrm>
          <a:prstGeom prst="roundRect">
            <a:avLst/>
          </a:prstGeom>
          <a:solidFill>
            <a:srgbClr val="FFFFFF"/>
          </a:solidFill>
          <a:ln w="25400">
            <a:solidFill>
              <a:srgbClr val="2B7FFF"/>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sz="1100" b="1">
                <a:solidFill>
                  <a:srgbClr val="2B7FFF"/>
                </a:solidFill>
              </a:defRPr>
            </a:pPr>
            <a:r>
              <a:t>OUR INNOVATION: CO-LOCATION &amp; SHADOW BLOCKING</a:t>
            </a:r>
          </a:p>
          <a:p>
            <a:pPr>
              <a:spcBef>
                <a:spcPts val="400"/>
              </a:spcBef>
              <a:spcAft>
                <a:spcPts val="1200"/>
              </a:spcAft>
              <a:defRPr sz="1600" b="1">
                <a:solidFill>
                  <a:srgbClr val="0F172A"/>
                </a:solidFill>
              </a:defRPr>
            </a:pPr>
            <a:r>
              <a:t>1 Unified Multi-Department Mega Block</a:t>
            </a:r>
          </a:p>
          <a:p>
            <a:pPr>
              <a:spcAft>
                <a:spcPts val="800"/>
              </a:spcAft>
              <a:defRPr sz="1100">
                <a:solidFill>
                  <a:srgbClr val="475569"/>
                </a:solidFill>
              </a:defRPr>
            </a:pPr>
            <a:r>
              <a:t>• Automatic Spatial Clustering: Cross-references chainage KM across TMS, SMMS, and TDMS.</a:t>
            </a:r>
          </a:p>
          <a:p>
            <a:pPr>
              <a:spcAft>
                <a:spcPts val="800"/>
              </a:spcAft>
              <a:defRPr sz="1100">
                <a:solidFill>
                  <a:srgbClr val="475569"/>
                </a:solidFill>
              </a:defRPr>
            </a:pPr>
            <a:r>
              <a:t>• Synchronized Execution: Bundles OHE power cut + Track tamping + Signal checks into 1 single closure.</a:t>
            </a:r>
          </a:p>
          <a:p>
            <a:pPr>
              <a:spcAft>
                <a:spcPts val="800"/>
              </a:spcAft>
              <a:defRPr sz="1100">
                <a:solidFill>
                  <a:srgbClr val="475569"/>
                </a:solidFill>
              </a:defRPr>
            </a:pPr>
            <a:r>
              <a:t>• COA Gap Alignment: Schedules the joint block precisely during natural off-peak freight gaps (01:30 - 03:30 AM).</a:t>
            </a:r>
          </a:p>
          <a:p>
            <a:pPr>
              <a:spcAft>
                <a:spcPts val="800"/>
              </a:spcAft>
              <a:defRPr sz="1100">
                <a:solidFill>
                  <a:srgbClr val="475569"/>
                </a:solidFill>
              </a:defRPr>
            </a:pPr>
            <a:r>
              <a:t>• Outcome: 38% reduction in corridor downtime with zero passenger disruptions.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2B7FFF"/>
                </a:solidFill>
              </a:defRPr>
            </a:pPr>
            <a:r>
              <a:t>SMART INDIA HACKATHON | MINISTRY OF RAILWAYS</a:t>
            </a:r>
          </a:p>
          <a:p>
            <a:pPr>
              <a:defRPr sz="2200" b="1">
                <a:solidFill>
                  <a:srgbClr val="0F172A"/>
                </a:solidFill>
              </a:defRPr>
            </a:pPr>
            <a:r>
              <a:t>Multi-Horizon Planning: Tactical 24h to Monthly Strategy</a:t>
            </a:r>
          </a:p>
        </p:txBody>
      </p:sp>
      <p:sp>
        <p:nvSpPr>
          <p:cNvPr id="4" name="Rounded Rectangle 3"/>
          <p:cNvSpPr/>
          <p:nvPr/>
        </p:nvSpPr>
        <p:spPr>
          <a:xfrm>
            <a:off x="731520" y="1371600"/>
            <a:ext cx="3328416" cy="4937760"/>
          </a:xfrm>
          <a:prstGeom prst="roundRect">
            <a:avLst/>
          </a:prstGeom>
          <a:solidFill>
            <a:srgbClr val="FFFFFF"/>
          </a:solidFill>
          <a:ln w="19050">
            <a:solidFill>
              <a:srgbClr val="D0DFE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900" b="1">
                <a:solidFill>
                  <a:srgbClr val="2B7FFF"/>
                </a:solidFill>
              </a:defRPr>
            </a:pPr>
            <a:r>
              <a:t>EMERGENCY &amp; HIGH PRIORITY</a:t>
            </a:r>
          </a:p>
          <a:p>
            <a:pPr>
              <a:spcBef>
                <a:spcPts val="400"/>
              </a:spcBef>
              <a:spcAft>
                <a:spcPts val="1400"/>
              </a:spcAft>
              <a:defRPr sz="1600" b="1">
                <a:solidFill>
                  <a:srgbClr val="0F172A"/>
                </a:solidFill>
              </a:defRPr>
            </a:pPr>
            <a:r>
              <a:t>Daily Tactical (24-Hour)</a:t>
            </a:r>
          </a:p>
          <a:p>
            <a:pPr>
              <a:spcAft>
                <a:spcPts val="1000"/>
              </a:spcAft>
              <a:defRPr sz="1100">
                <a:solidFill>
                  <a:srgbClr val="475569"/>
                </a:solidFill>
              </a:defRPr>
            </a:pPr>
            <a:r>
              <a:t>• Immediate resolution of P1 critical safety defects (rail fractures, point failures).</a:t>
            </a:r>
          </a:p>
          <a:p>
            <a:pPr>
              <a:spcAft>
                <a:spcPts val="1000"/>
              </a:spcAft>
              <a:defRPr sz="1100">
                <a:solidFill>
                  <a:srgbClr val="475569"/>
                </a:solidFill>
              </a:defRPr>
            </a:pPr>
            <a:r>
              <a:t>• Dynamic slot reallocation matching real-time train delay updates from COA.</a:t>
            </a:r>
          </a:p>
          <a:p>
            <a:pPr>
              <a:spcAft>
                <a:spcPts val="1000"/>
              </a:spcAft>
              <a:defRPr sz="1100">
                <a:solidFill>
                  <a:srgbClr val="475569"/>
                </a:solidFill>
              </a:defRPr>
            </a:pPr>
            <a:r>
              <a:t>• Live safety buffer timers for field gangs and maintenance crews.</a:t>
            </a:r>
          </a:p>
        </p:txBody>
      </p:sp>
      <p:sp>
        <p:nvSpPr>
          <p:cNvPr id="5" name="Rounded Rectangle 4"/>
          <p:cNvSpPr/>
          <p:nvPr/>
        </p:nvSpPr>
        <p:spPr>
          <a:xfrm>
            <a:off x="4425696" y="1371600"/>
            <a:ext cx="3328416" cy="4937760"/>
          </a:xfrm>
          <a:prstGeom prst="roundRect">
            <a:avLst/>
          </a:prstGeom>
          <a:solidFill>
            <a:srgbClr val="FFFFFF"/>
          </a:solidFill>
          <a:ln w="19050">
            <a:solidFill>
              <a:srgbClr val="D0DFE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900" b="1">
                <a:solidFill>
                  <a:srgbClr val="1E3A8A"/>
                </a:solidFill>
              </a:defRPr>
            </a:pPr>
            <a:r>
              <a:t>PREVENTIVE JOINT BUNDLING</a:t>
            </a:r>
          </a:p>
          <a:p>
            <a:pPr>
              <a:spcBef>
                <a:spcPts val="400"/>
              </a:spcBef>
              <a:spcAft>
                <a:spcPts val="1400"/>
              </a:spcAft>
              <a:defRPr sz="1600" b="1">
                <a:solidFill>
                  <a:srgbClr val="0F172A"/>
                </a:solidFill>
              </a:defRPr>
            </a:pPr>
            <a:r>
              <a:t>Weekly Operational (7-Day)</a:t>
            </a:r>
          </a:p>
          <a:p>
            <a:pPr>
              <a:spcAft>
                <a:spcPts val="1000"/>
              </a:spcAft>
              <a:defRPr sz="1100">
                <a:solidFill>
                  <a:srgbClr val="475569"/>
                </a:solidFill>
              </a:defRPr>
            </a:pPr>
            <a:r>
              <a:t>• Multi-department task clustering across Track, OHE, and Signaling.</a:t>
            </a:r>
          </a:p>
          <a:p>
            <a:pPr>
              <a:spcAft>
                <a:spcPts val="1000"/>
              </a:spcAft>
              <a:defRPr sz="1100">
                <a:solidFill>
                  <a:srgbClr val="475569"/>
                </a:solidFill>
              </a:defRPr>
            </a:pPr>
            <a:r>
              <a:t>• Pre-allocation of machine tamping and TRD tower wagons.</a:t>
            </a:r>
          </a:p>
          <a:p>
            <a:pPr>
              <a:spcAft>
                <a:spcPts val="1000"/>
              </a:spcAft>
              <a:defRPr sz="1100">
                <a:solidFill>
                  <a:srgbClr val="475569"/>
                </a:solidFill>
              </a:defRPr>
            </a:pPr>
            <a:r>
              <a:t>• Conflict-free freight path planning with zero passenger timetable disturbance.</a:t>
            </a:r>
          </a:p>
        </p:txBody>
      </p:sp>
      <p:sp>
        <p:nvSpPr>
          <p:cNvPr id="6" name="Rounded Rectangle 5"/>
          <p:cNvSpPr/>
          <p:nvPr/>
        </p:nvSpPr>
        <p:spPr>
          <a:xfrm>
            <a:off x="8119872" y="1371600"/>
            <a:ext cx="3328416" cy="4937760"/>
          </a:xfrm>
          <a:prstGeom prst="roundRect">
            <a:avLst/>
          </a:prstGeom>
          <a:solidFill>
            <a:srgbClr val="FFFFFF"/>
          </a:solidFill>
          <a:ln w="19050">
            <a:solidFill>
              <a:srgbClr val="D0DFE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900" b="1">
                <a:solidFill>
                  <a:srgbClr val="10B981"/>
                </a:solidFill>
              </a:defRPr>
            </a:pPr>
            <a:r>
              <a:t>CYCLICAL OVERHAUL &amp; ASSET LIFE</a:t>
            </a:r>
          </a:p>
          <a:p>
            <a:pPr>
              <a:spcBef>
                <a:spcPts val="400"/>
              </a:spcBef>
              <a:spcAft>
                <a:spcPts val="1400"/>
              </a:spcAft>
              <a:defRPr sz="1600" b="1">
                <a:solidFill>
                  <a:srgbClr val="0F172A"/>
                </a:solidFill>
              </a:defRPr>
            </a:pPr>
            <a:r>
              <a:t>Monthly Strategic (30-Day)</a:t>
            </a:r>
          </a:p>
          <a:p>
            <a:pPr>
              <a:spcAft>
                <a:spcPts val="1000"/>
              </a:spcAft>
              <a:defRPr sz="1100">
                <a:solidFill>
                  <a:srgbClr val="475569"/>
                </a:solidFill>
              </a:defRPr>
            </a:pPr>
            <a:r>
              <a:t>• Long-term corridor asset availability optimization.</a:t>
            </a:r>
          </a:p>
          <a:p>
            <a:pPr>
              <a:spcAft>
                <a:spcPts val="1000"/>
              </a:spcAft>
              <a:defRPr sz="1100">
                <a:solidFill>
                  <a:srgbClr val="475569"/>
                </a:solidFill>
              </a:defRPr>
            </a:pPr>
            <a:r>
              <a:t>• Machine maintenance master schedule balancing division resource capacity.</a:t>
            </a:r>
          </a:p>
          <a:p>
            <a:pPr>
              <a:spcAft>
                <a:spcPts val="1000"/>
              </a:spcAft>
              <a:defRPr sz="1100">
                <a:solidFill>
                  <a:srgbClr val="475569"/>
                </a:solidFill>
              </a:defRPr>
            </a:pPr>
            <a:r>
              <a:t>• RDSO regulatory compliance forecasting and executive audit reporting.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2B7FFF"/>
                </a:solidFill>
              </a:defRPr>
            </a:pPr>
            <a:r>
              <a:t>SMART INDIA HACKATHON | MINISTRY OF RAILWAYS</a:t>
            </a:r>
          </a:p>
          <a:p>
            <a:pPr>
              <a:defRPr sz="2200" b="1">
                <a:solidFill>
                  <a:srgbClr val="0F172A"/>
                </a:solidFill>
              </a:defRPr>
            </a:pPr>
            <a:r>
              <a:t>Operational Impact &amp; Seamless Indian Railways Integration</a:t>
            </a:r>
          </a:p>
        </p:txBody>
      </p:sp>
      <p:sp>
        <p:nvSpPr>
          <p:cNvPr id="4" name="Rounded Rectangle 3"/>
          <p:cNvSpPr/>
          <p:nvPr/>
        </p:nvSpPr>
        <p:spPr>
          <a:xfrm>
            <a:off x="731520" y="1371600"/>
            <a:ext cx="5212080" cy="2286000"/>
          </a:xfrm>
          <a:prstGeom prst="roundRect">
            <a:avLst/>
          </a:prstGeom>
          <a:solidFill>
            <a:srgbClr val="FFFFFF"/>
          </a:solidFill>
          <a:ln w="19050">
            <a:solidFill>
              <a:srgbClr val="D0DFE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000" b="1">
                <a:solidFill>
                  <a:srgbClr val="2B7FFF"/>
                </a:solidFill>
              </a:defRPr>
            </a:pPr>
            <a:r>
              <a:t>ASSET AVAILABILITY</a:t>
            </a:r>
          </a:p>
          <a:p>
            <a:pPr>
              <a:spcBef>
                <a:spcPts val="200"/>
              </a:spcBef>
              <a:spcAft>
                <a:spcPts val="600"/>
              </a:spcAft>
              <a:defRPr sz="1800" b="1">
                <a:solidFill>
                  <a:srgbClr val="0F172A"/>
                </a:solidFill>
              </a:defRPr>
            </a:pPr>
            <a:r>
              <a:t>Up to +18% Increase</a:t>
            </a:r>
          </a:p>
          <a:p>
            <a:pPr>
              <a:defRPr sz="1050">
                <a:solidFill>
                  <a:srgbClr val="475569"/>
                </a:solidFill>
              </a:defRPr>
            </a:pPr>
            <a:r>
              <a:t>Consolidating 3 separate blocks into 1 joint window keeps critical trunk corridors open for freight and passenger operations.</a:t>
            </a:r>
          </a:p>
        </p:txBody>
      </p:sp>
      <p:sp>
        <p:nvSpPr>
          <p:cNvPr id="5" name="Rounded Rectangle 4"/>
          <p:cNvSpPr/>
          <p:nvPr/>
        </p:nvSpPr>
        <p:spPr>
          <a:xfrm>
            <a:off x="6217920" y="1371600"/>
            <a:ext cx="5212080" cy="2286000"/>
          </a:xfrm>
          <a:prstGeom prst="roundRect">
            <a:avLst/>
          </a:prstGeom>
          <a:solidFill>
            <a:srgbClr val="FFFFFF"/>
          </a:solidFill>
          <a:ln w="19050">
            <a:solidFill>
              <a:srgbClr val="D0DFE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000" b="1">
                <a:solidFill>
                  <a:srgbClr val="0F172A"/>
                </a:solidFill>
              </a:defRPr>
            </a:pPr>
            <a:r>
              <a:t>PUNCTUALITY INDEX</a:t>
            </a:r>
          </a:p>
          <a:p>
            <a:pPr>
              <a:spcBef>
                <a:spcPts val="200"/>
              </a:spcBef>
              <a:spcAft>
                <a:spcPts val="600"/>
              </a:spcAft>
              <a:defRPr sz="1800" b="1">
                <a:solidFill>
                  <a:srgbClr val="0F172A"/>
                </a:solidFill>
              </a:defRPr>
            </a:pPr>
            <a:r>
              <a:t>Zero Timetable Collisions</a:t>
            </a:r>
          </a:p>
          <a:p>
            <a:pPr>
              <a:defRPr sz="1050">
                <a:solidFill>
                  <a:srgbClr val="475569"/>
                </a:solidFill>
              </a:defRPr>
            </a:pPr>
            <a:r>
              <a:t>Algorithm avoids passenger peak traffic and restricts major mega-blocks to low-density night slots.</a:t>
            </a:r>
          </a:p>
        </p:txBody>
      </p:sp>
      <p:sp>
        <p:nvSpPr>
          <p:cNvPr id="6" name="Rounded Rectangle 5"/>
          <p:cNvSpPr/>
          <p:nvPr/>
        </p:nvSpPr>
        <p:spPr>
          <a:xfrm>
            <a:off x="731520" y="3931920"/>
            <a:ext cx="5212080" cy="2286000"/>
          </a:xfrm>
          <a:prstGeom prst="roundRect">
            <a:avLst/>
          </a:prstGeom>
          <a:solidFill>
            <a:srgbClr val="FFFFFF"/>
          </a:solidFill>
          <a:ln w="19050">
            <a:solidFill>
              <a:srgbClr val="D0DFE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000" b="1">
                <a:solidFill>
                  <a:srgbClr val="10B981"/>
                </a:solidFill>
              </a:defRPr>
            </a:pPr>
            <a:r>
              <a:t>CONTROLLER VELOCITY</a:t>
            </a:r>
          </a:p>
          <a:p>
            <a:pPr>
              <a:spcBef>
                <a:spcPts val="200"/>
              </a:spcBef>
              <a:spcAft>
                <a:spcPts val="600"/>
              </a:spcAft>
              <a:defRPr sz="1800" b="1">
                <a:solidFill>
                  <a:srgbClr val="0F172A"/>
                </a:solidFill>
              </a:defRPr>
            </a:pPr>
            <a:r>
              <a:t>&lt; 30s Fast Solver</a:t>
            </a:r>
          </a:p>
          <a:p>
            <a:pPr>
              <a:defRPr sz="1050">
                <a:solidFill>
                  <a:srgbClr val="475569"/>
                </a:solidFill>
              </a:defRPr>
            </a:pPr>
            <a:r>
              <a:t>Replaces multi-day inter-departmental meetings with an instantaneous constraint-satisfaction schedule.</a:t>
            </a:r>
          </a:p>
        </p:txBody>
      </p:sp>
      <p:sp>
        <p:nvSpPr>
          <p:cNvPr id="7" name="Rounded Rectangle 6"/>
          <p:cNvSpPr/>
          <p:nvPr/>
        </p:nvSpPr>
        <p:spPr>
          <a:xfrm>
            <a:off x="6217920" y="3931920"/>
            <a:ext cx="5212080" cy="2286000"/>
          </a:xfrm>
          <a:prstGeom prst="roundRect">
            <a:avLst/>
          </a:prstGeom>
          <a:solidFill>
            <a:srgbClr val="FFFFFF"/>
          </a:solidFill>
          <a:ln w="19050">
            <a:solidFill>
              <a:srgbClr val="D0DFE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000" b="1">
                <a:solidFill>
                  <a:srgbClr val="1E3A8A"/>
                </a:solidFill>
              </a:defRPr>
            </a:pPr>
            <a:r>
              <a:t>SAFETY &amp; COMPLIANCE</a:t>
            </a:r>
          </a:p>
          <a:p>
            <a:pPr>
              <a:spcBef>
                <a:spcPts val="200"/>
              </a:spcBef>
              <a:spcAft>
                <a:spcPts val="600"/>
              </a:spcAft>
              <a:defRPr sz="1800" b="1">
                <a:solidFill>
                  <a:srgbClr val="0F172A"/>
                </a:solidFill>
              </a:defRPr>
            </a:pPr>
            <a:r>
              <a:t>100% Tamper-Evident</a:t>
            </a:r>
          </a:p>
          <a:p>
            <a:pPr>
              <a:defRPr sz="1050">
                <a:solidFill>
                  <a:srgbClr val="475569"/>
                </a:solidFill>
              </a:defRPr>
            </a:pPr>
            <a:r>
              <a:t>Every approved block generates an immutable RDSO-compliant audit record with complete justification logs.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